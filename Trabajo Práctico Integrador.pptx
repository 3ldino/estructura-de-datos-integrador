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59" r:id="rId5"/>
    <p:sldId id="260" r:id="rId6"/>
    <p:sldId id="258" r:id="rId7"/>
    <p:sldId id="257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3C1CD-122E-4E72-AFAB-F8C5C5A7D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554B33-95F0-4B20-BE4A-A67ED249E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1DE578-384B-482A-8C83-C1DE099F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C4D073-CB5D-4004-B2DE-5CEDB895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2FBE8C-EC80-4D6B-9E4A-4D1C80B1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711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23218-0A05-4167-B570-F2494886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D602AF-5B41-4D67-B758-1D521C6D3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E97FA8-6AE2-451E-802E-FAD8EDF7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D818F-8964-4AF2-9381-B0DBD3C8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50E21A-1B6B-438A-B164-DBACE9E6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6021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24508-4535-469E-9D84-1313F485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81131A-B21B-4FED-BD2C-3B3A6DCEA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B37E21-08EC-4B41-94D6-6F8E4067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A51AA3-7C08-491E-BDB4-80159C77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DBC2A3-F028-4216-9327-969CF6FC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9623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36FF7-5E3B-44C4-BC4C-400FBF600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C5FE0-9A2C-45DF-A0C6-89A2E9F69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DF2029-366F-4A7C-B1B8-E031D4EFE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54D05-C153-4B8F-8C06-3BF2531C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7443D3-ECF2-4041-BE0B-9F817624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E84C59-7A46-42E0-A535-606C3D58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481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CF740-1693-4924-9302-29E830A6A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03BFEE-00A2-4855-8DA7-FD28C1B2F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BAA3A0-EAEE-4FE2-B003-508954DA5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9E884A-380D-4545-949B-D0D821FC1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D52E9E-4689-4731-A5C3-EB058AA76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ED0A574-4E19-4268-90FC-BF8E2F62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986EC3-9319-4A79-98D2-BD9438E0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DD3248-CF8B-4B8C-9236-DFC1BF07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3138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65D29-96D1-4024-8AC1-3A231525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3A024F3-8AF9-4DFD-B8A1-49F052942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AEDC64-A5A2-44C1-BA9D-8FD581AA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011D0D-FA0C-406A-A3FD-58B38A11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5820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8A9D2E-864E-4A7B-9A48-DC5FFFCC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16F3A2-958B-4BF9-B746-6E131404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322C92-0DF7-43F5-8488-F0B9ABA9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923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217D4-4F93-4434-8DD7-5A716030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06EFE6-694D-4CD0-9F2F-D8474F67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DD6AA3-77DE-423A-827E-9CF76C2A4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A0B6CB-600A-42DC-B3AF-39A3C164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956FC6-0C72-4A9B-988E-CA926019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DDD3EC-FF95-4934-BC88-AF08DAEC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14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1818B-6A5A-421A-988C-EC4507A3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F5129E-9A6F-4506-9EA8-E645C8A2F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D28ACB-CBCC-40AC-B4F9-F5C7BE8F2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FE4730-FEA5-4A23-9623-2B3FEED8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ED67AB-F19C-4CE2-8734-CDC4402D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397442-B03E-4989-9FD9-C8D73189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705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FFDBA-7BC2-4EBE-A5DB-4835AF0B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7384FC-0A6E-4BD6-9D42-F6400805B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6C638B-7EF4-41C8-B594-47B52453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057ADD-AF4B-4502-8BD0-1F61B8C4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BB8D85-AFA8-4BDE-86DE-9FFE61B3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074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D72CFA-290A-44D0-B859-D28B0BBB8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CBFBB4-75EE-475D-B96D-0E2BCE9EF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AD55C2-3953-4E0E-9A91-16CC074F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DC992-28FC-4293-B96A-4F33F059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35F52B-DFA5-4FA4-B0D8-CADA7646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972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E398E3-A7CE-4F60-87DB-93149875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858614-66BE-41EE-A491-5EB1D2A64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F32DC5-8F0E-4D8C-B9A7-9AC03CE06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8D0A9-0DF4-420A-A051-021EB327238E}" type="datetimeFigureOut">
              <a:rPr lang="es-AR" smtClean="0"/>
              <a:t>30/11/2025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ED6954-2E6D-4F05-9704-92F458426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8432B4-D387-4A52-A75D-310889CBC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4707A-C2E6-429F-A422-992470CA43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579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Google Shape;54;p1">
            <a:extLst>
              <a:ext uri="{FF2B5EF4-FFF2-40B4-BE49-F238E27FC236}">
                <a16:creationId xmlns:a16="http://schemas.microsoft.com/office/drawing/2014/main" id="{47E7C401-CB54-424B-B285-DF91F1ADA4A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3459" y="404699"/>
            <a:ext cx="8520600" cy="186351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Trabajo Práctico Integrador </a:t>
            </a:r>
            <a:br>
              <a:rPr lang="es-ES" sz="4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es-ES" sz="4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Personajes de Ciencia Ficción y Estructuras de Datos en Python</a:t>
            </a:r>
            <a:endParaRPr lang="es-AR" sz="4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0" name="Google Shape;55;p1">
            <a:extLst>
              <a:ext uri="{FF2B5EF4-FFF2-40B4-BE49-F238E27FC236}">
                <a16:creationId xmlns:a16="http://schemas.microsoft.com/office/drawing/2014/main" id="{9CDA79DD-8595-41E1-8138-684C1AD6CD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38329" y="2528431"/>
            <a:ext cx="4516341" cy="47580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MX" b="1" dirty="0">
                <a:solidFill>
                  <a:schemeClr val="bg1"/>
                </a:solidFill>
              </a:rPr>
              <a:t>comisión 6 de Estructura de datos</a:t>
            </a:r>
            <a:r>
              <a:rPr lang="es-MX" dirty="0">
                <a:solidFill>
                  <a:schemeClr val="bg1"/>
                </a:solidFill>
              </a:rPr>
              <a:t>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Google Shape;56;p1">
            <a:extLst>
              <a:ext uri="{FF2B5EF4-FFF2-40B4-BE49-F238E27FC236}">
                <a16:creationId xmlns:a16="http://schemas.microsoft.com/office/drawing/2014/main" id="{A039F773-0951-460E-B442-F3AE3B2C43F8}"/>
              </a:ext>
            </a:extLst>
          </p:cNvPr>
          <p:cNvSpPr txBox="1"/>
          <p:nvPr/>
        </p:nvSpPr>
        <p:spPr>
          <a:xfrm>
            <a:off x="5076497" y="3182208"/>
            <a:ext cx="1554523" cy="6715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Alumno:</a:t>
            </a:r>
            <a:endParaRPr sz="18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Ariel Dinocco</a:t>
            </a: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515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ACDC61D-1A83-41CD-BFAC-DFA9E2943F01}"/>
              </a:ext>
            </a:extLst>
          </p:cNvPr>
          <p:cNvSpPr txBox="1"/>
          <p:nvPr/>
        </p:nvSpPr>
        <p:spPr>
          <a:xfrm>
            <a:off x="1117134" y="2459504"/>
            <a:ext cx="9957732" cy="193899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4000" dirty="0">
                <a:solidFill>
                  <a:schemeClr val="bg1"/>
                </a:solidFill>
              </a:rPr>
              <a:t>Este proyecto consiste en la catalogación de personajes de ciencia ficción y sus características derivadas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F47EBC-DBF0-4116-A6B1-217850D2B8B2}"/>
              </a:ext>
            </a:extLst>
          </p:cNvPr>
          <p:cNvSpPr txBox="1"/>
          <p:nvPr/>
        </p:nvSpPr>
        <p:spPr>
          <a:xfrm>
            <a:off x="97872" y="5305082"/>
            <a:ext cx="2038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Si lees esto tenes una tremenda vista</a:t>
            </a:r>
          </a:p>
        </p:txBody>
      </p:sp>
    </p:spTree>
    <p:extLst>
      <p:ext uri="{BB962C8B-B14F-4D97-AF65-F5344CB8AC3E}">
        <p14:creationId xmlns:p14="http://schemas.microsoft.com/office/powerpoint/2010/main" val="278991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Google Shape;66;p3">
            <a:extLst>
              <a:ext uri="{FF2B5EF4-FFF2-40B4-BE49-F238E27FC236}">
                <a16:creationId xmlns:a16="http://schemas.microsoft.com/office/drawing/2014/main" id="{B5871998-80D0-4AD4-BD5C-31F9B169954C}"/>
              </a:ext>
            </a:extLst>
          </p:cNvPr>
          <p:cNvSpPr txBox="1">
            <a:spLocks/>
          </p:cNvSpPr>
          <p:nvPr/>
        </p:nvSpPr>
        <p:spPr>
          <a:xfrm>
            <a:off x="3949443" y="871221"/>
            <a:ext cx="4293111" cy="75422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s-MX" sz="3600" b="1" dirty="0">
                <a:solidFill>
                  <a:schemeClr val="bg1"/>
                </a:solidFill>
              </a:rPr>
              <a:t>Estructura de módulos</a:t>
            </a:r>
          </a:p>
        </p:txBody>
      </p:sp>
      <p:sp>
        <p:nvSpPr>
          <p:cNvPr id="4" name="Google Shape;67;p3">
            <a:extLst>
              <a:ext uri="{FF2B5EF4-FFF2-40B4-BE49-F238E27FC236}">
                <a16:creationId xmlns:a16="http://schemas.microsoft.com/office/drawing/2014/main" id="{CF0D8057-0A72-4AE9-BE26-29FD7A62E1B0}"/>
              </a:ext>
            </a:extLst>
          </p:cNvPr>
          <p:cNvSpPr txBox="1"/>
          <p:nvPr/>
        </p:nvSpPr>
        <p:spPr>
          <a:xfrm>
            <a:off x="4548230" y="2496671"/>
            <a:ext cx="2834082" cy="29813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9944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s-AR" sz="2800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m</a:t>
            </a:r>
            <a:r>
              <a:rPr lang="es-AR" sz="2800" b="0" i="0" u="none" strike="noStrike" cap="none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ain_menu.py</a:t>
            </a:r>
          </a:p>
          <a:p>
            <a:pPr marL="59944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s-AR" sz="2800" b="0" i="0" u="none" strike="noStrike" cap="none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personaje.py</a:t>
            </a:r>
            <a:endParaRPr lang="es-AR" sz="2800" dirty="0">
              <a:solidFill>
                <a:schemeClr val="accent2"/>
              </a:solidFill>
              <a:ea typeface="Calibri"/>
              <a:cs typeface="Calibri"/>
              <a:sym typeface="Calibri"/>
            </a:endParaRPr>
          </a:p>
          <a:p>
            <a:pPr marL="59944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s-AR" sz="2800" b="0" i="0" u="none" strike="noStrike" cap="none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arbol_poder.py</a:t>
            </a:r>
          </a:p>
          <a:p>
            <a:pPr marL="59944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s-AR" sz="2800" b="0" i="0" u="none" strike="noStrike" cap="none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habilidad.py</a:t>
            </a:r>
            <a:endParaRPr lang="es-AR" sz="2800" dirty="0">
              <a:solidFill>
                <a:schemeClr val="accent2"/>
              </a:solidFill>
              <a:ea typeface="Calibri"/>
              <a:cs typeface="Calibri"/>
              <a:sym typeface="Calibri"/>
            </a:endParaRPr>
          </a:p>
          <a:p>
            <a:pPr marL="59944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s-AR" sz="2800" b="0" i="0" u="none" strike="noStrike" cap="none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misiones.py</a:t>
            </a:r>
          </a:p>
          <a:p>
            <a:pPr marL="59944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s-AR" sz="2800" b="0" i="0" u="none" strike="noStrike" cap="none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grafo.py</a:t>
            </a:r>
            <a:endParaRPr lang="es-AR" sz="2800" dirty="0">
              <a:solidFill>
                <a:schemeClr val="accent2"/>
              </a:solidFill>
              <a:ea typeface="Calibri"/>
              <a:cs typeface="Calibri"/>
              <a:sym typeface="Calibri"/>
            </a:endParaRPr>
          </a:p>
          <a:p>
            <a:pPr marL="59944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s-AR" sz="2800" b="0" i="0" u="none" strike="noStrike" cap="none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dijkstra.py</a:t>
            </a:r>
          </a:p>
          <a:p>
            <a:pPr marL="59944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s-AR" sz="2800" b="0" i="0" u="none" strike="noStrike" cap="none" dirty="0">
                <a:solidFill>
                  <a:schemeClr val="accent2"/>
                </a:solidFill>
                <a:ea typeface="Calibri"/>
                <a:cs typeface="Calibri"/>
                <a:sym typeface="Calibri"/>
              </a:rPr>
              <a:t>topologico.py</a:t>
            </a:r>
            <a:endParaRPr sz="2800" b="0" i="0" u="none" strike="noStrike" cap="none" dirty="0">
              <a:solidFill>
                <a:schemeClr val="accent2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0604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B76BB64-A922-43F2-9B3E-17834D2C1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8" y="2849467"/>
            <a:ext cx="6563641" cy="2400635"/>
          </a:xfrm>
          <a:prstGeom prst="rect">
            <a:avLst/>
          </a:prstGeom>
        </p:spPr>
      </p:pic>
      <p:sp>
        <p:nvSpPr>
          <p:cNvPr id="8" name="Google Shape;84;p5">
            <a:extLst>
              <a:ext uri="{FF2B5EF4-FFF2-40B4-BE49-F238E27FC236}">
                <a16:creationId xmlns:a16="http://schemas.microsoft.com/office/drawing/2014/main" id="{157F756A-8415-4381-B8BD-A059E84D8A9A}"/>
              </a:ext>
            </a:extLst>
          </p:cNvPr>
          <p:cNvSpPr txBox="1">
            <a:spLocks/>
          </p:cNvSpPr>
          <p:nvPr/>
        </p:nvSpPr>
        <p:spPr>
          <a:xfrm>
            <a:off x="3945864" y="488507"/>
            <a:ext cx="4300271" cy="5727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Modelado de personajes: Atributos</a:t>
            </a:r>
          </a:p>
        </p:txBody>
      </p:sp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A6D00C04-15BB-41A1-9829-14AB9308C543}"/>
              </a:ext>
            </a:extLst>
          </p:cNvPr>
          <p:cNvSpPr txBox="1">
            <a:spLocks/>
          </p:cNvSpPr>
          <p:nvPr/>
        </p:nvSpPr>
        <p:spPr>
          <a:xfrm>
            <a:off x="1835698" y="1241569"/>
            <a:ext cx="8520600" cy="1384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La clase Personaje fue diseñada para representar entidades de ciencia ficción permitiendo modelar personajes usando una estructura común</a:t>
            </a:r>
          </a:p>
        </p:txBody>
      </p:sp>
      <p:sp>
        <p:nvSpPr>
          <p:cNvPr id="13" name="Google Shape;85;p5">
            <a:extLst>
              <a:ext uri="{FF2B5EF4-FFF2-40B4-BE49-F238E27FC236}">
                <a16:creationId xmlns:a16="http://schemas.microsoft.com/office/drawing/2014/main" id="{DAAA9205-B95C-4FD9-8136-C9D2F46A3213}"/>
              </a:ext>
            </a:extLst>
          </p:cNvPr>
          <p:cNvSpPr txBox="1">
            <a:spLocks/>
          </p:cNvSpPr>
          <p:nvPr/>
        </p:nvSpPr>
        <p:spPr>
          <a:xfrm>
            <a:off x="6808526" y="2849467"/>
            <a:ext cx="2587143" cy="294732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nombre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especie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Planeta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_nivel_poder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Habilidades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Inventario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transformaciones</a:t>
            </a:r>
          </a:p>
        </p:txBody>
      </p:sp>
      <p:sp>
        <p:nvSpPr>
          <p:cNvPr id="15" name="Google Shape;85;p5">
            <a:extLst>
              <a:ext uri="{FF2B5EF4-FFF2-40B4-BE49-F238E27FC236}">
                <a16:creationId xmlns:a16="http://schemas.microsoft.com/office/drawing/2014/main" id="{2FAA4EC8-4721-4D0F-989C-F8F12CF16A6E}"/>
              </a:ext>
            </a:extLst>
          </p:cNvPr>
          <p:cNvSpPr txBox="1">
            <a:spLocks/>
          </p:cNvSpPr>
          <p:nvPr/>
        </p:nvSpPr>
        <p:spPr>
          <a:xfrm>
            <a:off x="9500263" y="2849467"/>
            <a:ext cx="2587143" cy="294732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Estos atributos son los que cada personaje tiene en común en términos de su estructura</a:t>
            </a:r>
          </a:p>
        </p:txBody>
      </p:sp>
    </p:spTree>
    <p:extLst>
      <p:ext uri="{BB962C8B-B14F-4D97-AF65-F5344CB8AC3E}">
        <p14:creationId xmlns:p14="http://schemas.microsoft.com/office/powerpoint/2010/main" val="157522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3" name="Google Shape;84;p5">
            <a:extLst>
              <a:ext uri="{FF2B5EF4-FFF2-40B4-BE49-F238E27FC236}">
                <a16:creationId xmlns:a16="http://schemas.microsoft.com/office/drawing/2014/main" id="{D4109594-00DE-488B-8CEE-D85C192A995D}"/>
              </a:ext>
            </a:extLst>
          </p:cNvPr>
          <p:cNvSpPr txBox="1">
            <a:spLocks/>
          </p:cNvSpPr>
          <p:nvPr/>
        </p:nvSpPr>
        <p:spPr>
          <a:xfrm>
            <a:off x="3945863" y="452163"/>
            <a:ext cx="4300271" cy="5727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4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Concepto de Encapsulamiento</a:t>
            </a:r>
          </a:p>
        </p:txBody>
      </p:sp>
      <p:sp>
        <p:nvSpPr>
          <p:cNvPr id="4" name="Google Shape;85;p5">
            <a:extLst>
              <a:ext uri="{FF2B5EF4-FFF2-40B4-BE49-F238E27FC236}">
                <a16:creationId xmlns:a16="http://schemas.microsoft.com/office/drawing/2014/main" id="{7AD25A1E-00D4-4BCE-9460-DCD7501CD59C}"/>
              </a:ext>
            </a:extLst>
          </p:cNvPr>
          <p:cNvSpPr txBox="1">
            <a:spLocks/>
          </p:cNvSpPr>
          <p:nvPr/>
        </p:nvSpPr>
        <p:spPr>
          <a:xfrm>
            <a:off x="1835699" y="1173942"/>
            <a:ext cx="8520600" cy="1384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Encapsulamiento significa ocultar los datos internos de un objeto y controlar su acceso mediante métodos, protegiendo la información y evitar modificaciones no autorizada</a:t>
            </a:r>
          </a:p>
        </p:txBody>
      </p:sp>
      <p:sp>
        <p:nvSpPr>
          <p:cNvPr id="5" name="Google Shape;87;p5">
            <a:extLst>
              <a:ext uri="{FF2B5EF4-FFF2-40B4-BE49-F238E27FC236}">
                <a16:creationId xmlns:a16="http://schemas.microsoft.com/office/drawing/2014/main" id="{735BE012-4A77-47B9-826D-0B348C349262}"/>
              </a:ext>
            </a:extLst>
          </p:cNvPr>
          <p:cNvSpPr txBox="1"/>
          <p:nvPr/>
        </p:nvSpPr>
        <p:spPr>
          <a:xfrm>
            <a:off x="6570299" y="3429000"/>
            <a:ext cx="3786000" cy="24384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El primer guion bajo en </a:t>
            </a:r>
            <a:r>
              <a:rPr lang="es-AR" sz="240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s-AR" sz="240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._nivel_poder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bg1"/>
                </a:solidFill>
              </a:rPr>
              <a:t> </a:t>
            </a:r>
            <a:r>
              <a:rPr lang="es-ES" sz="2400" b="1" dirty="0">
                <a:solidFill>
                  <a:schemeClr val="bg1"/>
                </a:solidFill>
              </a:rPr>
              <a:t>indica que el atributo esta protegido</a:t>
            </a:r>
            <a:r>
              <a:rPr lang="es-ES" sz="2400" dirty="0">
                <a:solidFill>
                  <a:schemeClr val="bg1"/>
                </a:solidFill>
              </a:rPr>
              <a:t>,  no puede modificarse directamente.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5005ED-A21B-416B-99AE-F7D7A296D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74" y="3640413"/>
            <a:ext cx="5472478" cy="213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1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Google Shape;84;p5">
            <a:extLst>
              <a:ext uri="{FF2B5EF4-FFF2-40B4-BE49-F238E27FC236}">
                <a16:creationId xmlns:a16="http://schemas.microsoft.com/office/drawing/2014/main" id="{129B19B0-3589-4DE9-8AB6-D766F79ACDB3}"/>
              </a:ext>
            </a:extLst>
          </p:cNvPr>
          <p:cNvSpPr txBox="1">
            <a:spLocks/>
          </p:cNvSpPr>
          <p:nvPr/>
        </p:nvSpPr>
        <p:spPr>
          <a:xfrm>
            <a:off x="6071671" y="401830"/>
            <a:ext cx="4300271" cy="5727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Modelado de personajes: </a:t>
            </a:r>
            <a:r>
              <a:rPr lang="es-MX" b="1" dirty="0" err="1">
                <a:solidFill>
                  <a:schemeClr val="bg1"/>
                </a:solidFill>
              </a:rPr>
              <a:t>Metodos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505009-7146-41B1-8A0D-3EFB507E3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51614" cy="6858000"/>
          </a:xfrm>
          <a:prstGeom prst="rect">
            <a:avLst/>
          </a:prstGeom>
        </p:spPr>
      </p:pic>
      <p:sp>
        <p:nvSpPr>
          <p:cNvPr id="6" name="Google Shape;85;p5">
            <a:extLst>
              <a:ext uri="{FF2B5EF4-FFF2-40B4-BE49-F238E27FC236}">
                <a16:creationId xmlns:a16="http://schemas.microsoft.com/office/drawing/2014/main" id="{0A6E1C7D-5E0D-4177-AAD0-A66E1966CE54}"/>
              </a:ext>
            </a:extLst>
          </p:cNvPr>
          <p:cNvSpPr txBox="1">
            <a:spLocks/>
          </p:cNvSpPr>
          <p:nvPr/>
        </p:nvSpPr>
        <p:spPr>
          <a:xfrm>
            <a:off x="4998620" y="1943459"/>
            <a:ext cx="6446371" cy="385333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get_poder</a:t>
            </a:r>
            <a:r>
              <a:rPr lang="es-ES" sz="1600" dirty="0">
                <a:solidFill>
                  <a:schemeClr val="bg1"/>
                </a:solidFill>
              </a:rPr>
              <a:t>: Permite acceder al nivel de poder cumpliendo el principio de encapsulamiento. Evita el acceso directo al atributo protegido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set_poder</a:t>
            </a:r>
            <a:r>
              <a:rPr lang="es-ES" sz="1600" dirty="0">
                <a:solidFill>
                  <a:schemeClr val="bg1"/>
                </a:solidFill>
              </a:rPr>
              <a:t>: Controla la modificación del poder asegurando que no se ingresen valores inválidos como números negativos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agregar_habilidad</a:t>
            </a:r>
            <a:r>
              <a:rPr lang="es-E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1600" dirty="0">
                <a:solidFill>
                  <a:schemeClr val="bg1"/>
                </a:solidFill>
              </a:rPr>
              <a:t>y </a:t>
            </a:r>
            <a:r>
              <a:rPr lang="es-E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eliminar_habilidad</a:t>
            </a:r>
            <a:r>
              <a:rPr lang="es-ES" sz="1600" dirty="0">
                <a:solidFill>
                  <a:schemeClr val="bg1"/>
                </a:solidFill>
              </a:rPr>
              <a:t>: Proveen una interfaz clara para gestionar habilidades. Evitan la manipulación directa de la lista desde el exterior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agregar_objeto</a:t>
            </a:r>
            <a:r>
              <a:rPr lang="es-E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1600" dirty="0">
                <a:solidFill>
                  <a:schemeClr val="bg1"/>
                </a:solidFill>
              </a:rPr>
              <a:t>y </a:t>
            </a:r>
            <a:r>
              <a:rPr lang="es-E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eliminar_objeto</a:t>
            </a:r>
            <a:r>
              <a:rPr lang="es-ES" sz="1600" dirty="0">
                <a:solidFill>
                  <a:schemeClr val="bg1"/>
                </a:solidFill>
              </a:rPr>
              <a:t>: Permiten administrar el inventario del personaje.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agregar_transformación</a:t>
            </a:r>
            <a:r>
              <a:rPr lang="es-ES" sz="1600" dirty="0">
                <a:solidFill>
                  <a:schemeClr val="bg1"/>
                </a:solidFill>
              </a:rPr>
              <a:t>: Asocia otro personaje como “evolución” o “fusión”. Permite construir una estructura de árbol jerárquico de poder.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poder_total</a:t>
            </a:r>
            <a:r>
              <a:rPr lang="es-ES" sz="1600" dirty="0">
                <a:solidFill>
                  <a:schemeClr val="bg1"/>
                </a:solidFill>
              </a:rPr>
              <a:t>: Implementa recursividad. Suma el poder del personaje base junto con el poder de todas sus transformaciones</a:t>
            </a:r>
          </a:p>
        </p:txBody>
      </p:sp>
    </p:spTree>
    <p:extLst>
      <p:ext uri="{BB962C8B-B14F-4D97-AF65-F5344CB8AC3E}">
        <p14:creationId xmlns:p14="http://schemas.microsoft.com/office/powerpoint/2010/main" val="24196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92000" cy="6858000"/>
          </a:xfrm>
          <a:prstGeom prst="rect">
            <a:avLst/>
          </a:prstGeom>
        </p:spPr>
      </p:pic>
      <p:sp>
        <p:nvSpPr>
          <p:cNvPr id="3" name="Google Shape;84;p5">
            <a:extLst>
              <a:ext uri="{FF2B5EF4-FFF2-40B4-BE49-F238E27FC236}">
                <a16:creationId xmlns:a16="http://schemas.microsoft.com/office/drawing/2014/main" id="{9E28C725-FA2B-4C90-A48C-15FBE195CCCE}"/>
              </a:ext>
            </a:extLst>
          </p:cNvPr>
          <p:cNvSpPr txBox="1">
            <a:spLocks/>
          </p:cNvSpPr>
          <p:nvPr/>
        </p:nvSpPr>
        <p:spPr>
          <a:xfrm>
            <a:off x="3801670" y="538841"/>
            <a:ext cx="4588655" cy="5727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Modelado de personajes: Listas y Pilas</a:t>
            </a:r>
          </a:p>
        </p:txBody>
      </p:sp>
      <p:sp>
        <p:nvSpPr>
          <p:cNvPr id="4" name="Google Shape;85;p5">
            <a:extLst>
              <a:ext uri="{FF2B5EF4-FFF2-40B4-BE49-F238E27FC236}">
                <a16:creationId xmlns:a16="http://schemas.microsoft.com/office/drawing/2014/main" id="{AB06195E-CC9C-4E24-9881-C511BBE0DB6F}"/>
              </a:ext>
            </a:extLst>
          </p:cNvPr>
          <p:cNvSpPr txBox="1">
            <a:spLocks/>
          </p:cNvSpPr>
          <p:nvPr/>
        </p:nvSpPr>
        <p:spPr>
          <a:xfrm>
            <a:off x="969900" y="4156014"/>
            <a:ext cx="4260303" cy="23454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sz="1400" dirty="0">
                <a:solidFill>
                  <a:schemeClr val="bg1"/>
                </a:solidFill>
              </a:rPr>
              <a:t>LISTAS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ü"/>
            </a:pPr>
            <a:r>
              <a:rPr lang="es-ES" sz="1400" dirty="0">
                <a:solidFill>
                  <a:schemeClr val="bg1"/>
                </a:solidFill>
              </a:rPr>
              <a:t>Acceso directo a cualquier elemento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ü"/>
            </a:pPr>
            <a:r>
              <a:rPr lang="es-ES" sz="1400" dirty="0">
                <a:solidFill>
                  <a:schemeClr val="bg1"/>
                </a:solidFill>
              </a:rPr>
              <a:t>Permite agregar eliminar o buscar en cualquier posición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ü"/>
            </a:pPr>
            <a:r>
              <a:rPr lang="es-ES" sz="1400" dirty="0">
                <a:solidFill>
                  <a:schemeClr val="bg1"/>
                </a:solidFill>
              </a:rPr>
              <a:t>Permite recorrer todos los elementos fácilmente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ü"/>
            </a:pPr>
            <a:r>
              <a:rPr lang="es-ES" sz="1400" dirty="0">
                <a:solidFill>
                  <a:schemeClr val="bg1"/>
                </a:solidFill>
              </a:rPr>
              <a:t>Es flexible y fácil de usar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ü"/>
            </a:pPr>
            <a:r>
              <a:rPr lang="es-ES" sz="1400" dirty="0">
                <a:solidFill>
                  <a:schemeClr val="bg1"/>
                </a:solidFill>
              </a:rPr>
              <a:t>Se adapta a inventarios dinámicos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Calibri" panose="020F0502020204030204" pitchFamily="34" charset="0"/>
              <a:buChar char="×"/>
            </a:pPr>
            <a:r>
              <a:rPr lang="es-ES" sz="1400" dirty="0">
                <a:solidFill>
                  <a:schemeClr val="bg1"/>
                </a:solidFill>
              </a:rPr>
              <a:t>No impone orden lógico automático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Calibri" panose="020F0502020204030204" pitchFamily="34" charset="0"/>
              <a:buChar char="×"/>
            </a:pPr>
            <a:r>
              <a:rPr lang="es-ES" sz="1400" dirty="0">
                <a:solidFill>
                  <a:schemeClr val="bg1"/>
                </a:solidFill>
              </a:rPr>
              <a:t>El programador debe controlar reglas de uso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BC4D3D-E3E6-4145-A2B6-FAEF58AF3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769" y="1449378"/>
            <a:ext cx="5788456" cy="1514199"/>
          </a:xfrm>
          <a:prstGeom prst="rect">
            <a:avLst/>
          </a:prstGeom>
        </p:spPr>
      </p:pic>
      <p:sp>
        <p:nvSpPr>
          <p:cNvPr id="8" name="Google Shape;85;p5">
            <a:extLst>
              <a:ext uri="{FF2B5EF4-FFF2-40B4-BE49-F238E27FC236}">
                <a16:creationId xmlns:a16="http://schemas.microsoft.com/office/drawing/2014/main" id="{9306C581-CDD3-4B76-8DA6-5F422D50E375}"/>
              </a:ext>
            </a:extLst>
          </p:cNvPr>
          <p:cNvSpPr txBox="1">
            <a:spLocks/>
          </p:cNvSpPr>
          <p:nvPr/>
        </p:nvSpPr>
        <p:spPr>
          <a:xfrm>
            <a:off x="7228516" y="4090834"/>
            <a:ext cx="4260303" cy="241063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sz="1500" dirty="0">
                <a:solidFill>
                  <a:schemeClr val="bg1"/>
                </a:solidFill>
              </a:rPr>
              <a:t>PILAS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ü"/>
            </a:pPr>
            <a:r>
              <a:rPr lang="es-ES" sz="1500" dirty="0">
                <a:solidFill>
                  <a:schemeClr val="bg1"/>
                </a:solidFill>
              </a:rPr>
              <a:t>Elimina datos de manera controlada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ü"/>
            </a:pPr>
            <a:r>
              <a:rPr lang="es-ES" sz="1500" dirty="0">
                <a:solidFill>
                  <a:schemeClr val="bg1"/>
                </a:solidFill>
              </a:rPr>
              <a:t>Ideal para procesos reversibles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buSzPts val="1800"/>
              <a:buFont typeface="Wingdings" panose="05000000000000000000" pitchFamily="2" charset="2"/>
              <a:buChar char="ü"/>
            </a:pPr>
            <a:r>
              <a:rPr lang="es-ES" sz="1500" dirty="0">
                <a:solidFill>
                  <a:schemeClr val="bg1"/>
                </a:solidFill>
              </a:rPr>
              <a:t>Implementa orden LIFO automáticamente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buSzPts val="1800"/>
              <a:buFont typeface="Calibri" panose="020F0502020204030204" pitchFamily="34" charset="0"/>
              <a:buChar char="×"/>
            </a:pPr>
            <a:r>
              <a:rPr lang="es-ES" sz="1500" dirty="0">
                <a:solidFill>
                  <a:schemeClr val="bg1"/>
                </a:solidFill>
              </a:rPr>
              <a:t>Sólo permite acceder al último elemento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buSzPts val="1800"/>
              <a:buFont typeface="Calibri" panose="020F0502020204030204" pitchFamily="34" charset="0"/>
              <a:buChar char="×"/>
            </a:pPr>
            <a:r>
              <a:rPr lang="es-ES" sz="1500" dirty="0">
                <a:solidFill>
                  <a:schemeClr val="bg1"/>
                </a:solidFill>
              </a:rPr>
              <a:t>No permite buscar objetos internos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buSzPts val="1800"/>
              <a:buFont typeface="Calibri" panose="020F0502020204030204" pitchFamily="34" charset="0"/>
              <a:buChar char="×"/>
            </a:pPr>
            <a:r>
              <a:rPr lang="es-ES" sz="1500" dirty="0">
                <a:solidFill>
                  <a:schemeClr val="bg1"/>
                </a:solidFill>
              </a:rPr>
              <a:t>Difícil mostrar inventario completo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buSzPts val="1800"/>
              <a:buFont typeface="Calibri" panose="020F0502020204030204" pitchFamily="34" charset="0"/>
              <a:buChar char="×"/>
            </a:pPr>
            <a:r>
              <a:rPr lang="es-ES" sz="1500" dirty="0">
                <a:solidFill>
                  <a:schemeClr val="bg1"/>
                </a:solidFill>
              </a:rPr>
              <a:t>No representa bien objetos múltiples</a:t>
            </a:r>
          </a:p>
        </p:txBody>
      </p:sp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F4399FCA-7865-4E98-BE53-E08D5E26A052}"/>
              </a:ext>
            </a:extLst>
          </p:cNvPr>
          <p:cNvSpPr txBox="1">
            <a:spLocks/>
          </p:cNvSpPr>
          <p:nvPr/>
        </p:nvSpPr>
        <p:spPr>
          <a:xfrm>
            <a:off x="3100052" y="3044473"/>
            <a:ext cx="5991887" cy="9654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Para la estructura de habilidades, inventario y transformaciones la opción mas optima fue Filas</a:t>
            </a:r>
          </a:p>
        </p:txBody>
      </p:sp>
    </p:spTree>
    <p:extLst>
      <p:ext uri="{BB962C8B-B14F-4D97-AF65-F5344CB8AC3E}">
        <p14:creationId xmlns:p14="http://schemas.microsoft.com/office/powerpoint/2010/main" val="95635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3" name="Google Shape;84;p5">
            <a:extLst>
              <a:ext uri="{FF2B5EF4-FFF2-40B4-BE49-F238E27FC236}">
                <a16:creationId xmlns:a16="http://schemas.microsoft.com/office/drawing/2014/main" id="{D4109594-00DE-488B-8CEE-D85C192A995D}"/>
              </a:ext>
            </a:extLst>
          </p:cNvPr>
          <p:cNvSpPr txBox="1">
            <a:spLocks/>
          </p:cNvSpPr>
          <p:nvPr/>
        </p:nvSpPr>
        <p:spPr>
          <a:xfrm>
            <a:off x="3973910" y="314211"/>
            <a:ext cx="4489389" cy="7680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Poder y habilidades: 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Árboles y Jerarquías</a:t>
            </a:r>
          </a:p>
        </p:txBody>
      </p:sp>
      <p:sp>
        <p:nvSpPr>
          <p:cNvPr id="4" name="Google Shape;85;p5">
            <a:extLst>
              <a:ext uri="{FF2B5EF4-FFF2-40B4-BE49-F238E27FC236}">
                <a16:creationId xmlns:a16="http://schemas.microsoft.com/office/drawing/2014/main" id="{7AD25A1E-00D4-4BCE-9460-DCD7501CD59C}"/>
              </a:ext>
            </a:extLst>
          </p:cNvPr>
          <p:cNvSpPr txBox="1">
            <a:spLocks/>
          </p:cNvSpPr>
          <p:nvPr/>
        </p:nvSpPr>
        <p:spPr>
          <a:xfrm>
            <a:off x="7658520" y="1383614"/>
            <a:ext cx="3032710" cy="7680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  </a:t>
            </a:r>
            <a:r>
              <a:rPr lang="es-ES" dirty="0">
                <a:solidFill>
                  <a:schemeClr val="bg1"/>
                </a:solidFill>
              </a:rPr>
              <a:t>ARBOL BINARIO </a:t>
            </a:r>
          </a:p>
        </p:txBody>
      </p:sp>
      <p:sp>
        <p:nvSpPr>
          <p:cNvPr id="8" name="Google Shape;87;p5">
            <a:extLst>
              <a:ext uri="{FF2B5EF4-FFF2-40B4-BE49-F238E27FC236}">
                <a16:creationId xmlns:a16="http://schemas.microsoft.com/office/drawing/2014/main" id="{3D891675-931F-4D54-9D19-9F9B1AF417B4}"/>
              </a:ext>
            </a:extLst>
          </p:cNvPr>
          <p:cNvSpPr txBox="1"/>
          <p:nvPr/>
        </p:nvSpPr>
        <p:spPr>
          <a:xfrm>
            <a:off x="6602136" y="2197778"/>
            <a:ext cx="5231412" cy="44379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ÁRBOL BINARIO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Cada nodo tiene como máximo dos hijos izquierda y derecha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Se usa cuando hay que ordenar o comparar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En </a:t>
            </a:r>
            <a:r>
              <a:rPr lang="es-ES" sz="2000" dirty="0">
                <a:solidFill>
                  <a:schemeClr val="accent2"/>
                </a:solidFill>
              </a:rPr>
              <a:t>arbol_poder.py</a:t>
            </a:r>
          </a:p>
          <a:p>
            <a:pPr algn="ctr"/>
            <a:r>
              <a:rPr lang="es-E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_insertar</a:t>
            </a:r>
            <a:r>
              <a:rPr lang="es-E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self</a:t>
            </a:r>
            <a:r>
              <a:rPr lang="es-ES" sz="2000" dirty="0">
                <a:solidFill>
                  <a:schemeClr val="bg1"/>
                </a:solidFill>
              </a:rPr>
              <a:t>, </a:t>
            </a:r>
            <a:r>
              <a:rPr 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nodo</a:t>
            </a:r>
            <a:r>
              <a:rPr lang="es-ES" sz="2000" dirty="0">
                <a:solidFill>
                  <a:schemeClr val="bg1"/>
                </a:solidFill>
              </a:rPr>
              <a:t>, </a:t>
            </a:r>
            <a:r>
              <a:rPr 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personaje</a:t>
            </a:r>
            <a:r>
              <a:rPr lang="es-E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Controla dónde va cada personaje comparando su poder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Personajes más débiles a la izquierda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Personajes más fuertes a la derecha</a:t>
            </a: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Cada comparación reduce la mitad del subárbol en promedio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Muy eficiente para encontrar personajes por nivel de poder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C2007C0-87BF-4CBB-AA33-1F468F8E4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6481"/>
            <a:ext cx="6411254" cy="423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8" name="Google Shape;84;p5">
            <a:extLst>
              <a:ext uri="{FF2B5EF4-FFF2-40B4-BE49-F238E27FC236}">
                <a16:creationId xmlns:a16="http://schemas.microsoft.com/office/drawing/2014/main" id="{3CB25E29-8B50-4298-A4D5-CE89481B32CD}"/>
              </a:ext>
            </a:extLst>
          </p:cNvPr>
          <p:cNvSpPr txBox="1">
            <a:spLocks/>
          </p:cNvSpPr>
          <p:nvPr/>
        </p:nvSpPr>
        <p:spPr>
          <a:xfrm>
            <a:off x="3973910" y="314211"/>
            <a:ext cx="4489389" cy="7680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Poder y habilidades: 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Árboles y Jerarquías</a:t>
            </a:r>
          </a:p>
        </p:txBody>
      </p:sp>
      <p:sp>
        <p:nvSpPr>
          <p:cNvPr id="12" name="Google Shape;85;p5">
            <a:extLst>
              <a:ext uri="{FF2B5EF4-FFF2-40B4-BE49-F238E27FC236}">
                <a16:creationId xmlns:a16="http://schemas.microsoft.com/office/drawing/2014/main" id="{771BA294-F31B-4B23-8D0B-0330BCC4C1CC}"/>
              </a:ext>
            </a:extLst>
          </p:cNvPr>
          <p:cNvSpPr txBox="1">
            <a:spLocks/>
          </p:cNvSpPr>
          <p:nvPr/>
        </p:nvSpPr>
        <p:spPr>
          <a:xfrm>
            <a:off x="1920972" y="1396482"/>
            <a:ext cx="3032710" cy="7680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ARBOL GENERAL  </a:t>
            </a:r>
            <a:r>
              <a:rPr lang="es-E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3" name="Google Shape;87;p5">
            <a:extLst>
              <a:ext uri="{FF2B5EF4-FFF2-40B4-BE49-F238E27FC236}">
                <a16:creationId xmlns:a16="http://schemas.microsoft.com/office/drawing/2014/main" id="{108B5F39-7B4F-41F4-9FC5-10BD183B448D}"/>
              </a:ext>
            </a:extLst>
          </p:cNvPr>
          <p:cNvSpPr txBox="1"/>
          <p:nvPr/>
        </p:nvSpPr>
        <p:spPr>
          <a:xfrm>
            <a:off x="864588" y="2210646"/>
            <a:ext cx="5231412" cy="4182197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ÁRBOL GENERAL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Cada nodo puede tener muchos hijos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Se usa para representar evolución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En </a:t>
            </a:r>
            <a:r>
              <a:rPr lang="es-ES" sz="2000" dirty="0">
                <a:solidFill>
                  <a:schemeClr val="accent2"/>
                </a:solidFill>
              </a:rPr>
              <a:t>habilidad.py</a:t>
            </a:r>
            <a:endParaRPr lang="es-ES" sz="2000" dirty="0">
              <a:solidFill>
                <a:schemeClr val="bg1"/>
              </a:solidFill>
            </a:endParaRPr>
          </a:p>
          <a:p>
            <a:pPr algn="ctr"/>
            <a:r>
              <a:rPr lang="es-ES" sz="20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agregar_mejora</a:t>
            </a:r>
            <a:r>
              <a:rPr lang="es-ES" sz="2000" dirty="0">
                <a:solidFill>
                  <a:srgbClr val="FFFF00"/>
                </a:solidFill>
              </a:rPr>
              <a:t>(</a:t>
            </a:r>
            <a:r>
              <a:rPr 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self</a:t>
            </a:r>
            <a:r>
              <a:rPr lang="es-ES" sz="2000" dirty="0">
                <a:solidFill>
                  <a:schemeClr val="bg1"/>
                </a:solidFill>
              </a:rPr>
              <a:t>, </a:t>
            </a:r>
            <a:r>
              <a:rPr 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habilidad</a:t>
            </a:r>
            <a:r>
              <a:rPr lang="es-ES" sz="2000" dirty="0">
                <a:solidFill>
                  <a:srgbClr val="FFFF00"/>
                </a:solidFill>
              </a:rPr>
              <a:t>)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Agrega una rama a la habilidad base, permitiendo tener múltiples mejoras</a:t>
            </a:r>
          </a:p>
          <a:p>
            <a:pPr algn="ctr"/>
            <a:r>
              <a:rPr lang="es-E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mostrar</a:t>
            </a:r>
            <a:r>
              <a:rPr lang="es-ES" sz="2000" dirty="0">
                <a:solidFill>
                  <a:srgbClr val="FFFF00"/>
                </a:solidFill>
              </a:rPr>
              <a:t>(</a:t>
            </a:r>
            <a:r>
              <a:rPr 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self</a:t>
            </a:r>
            <a:r>
              <a:rPr lang="es-ES" sz="2000" dirty="0">
                <a:solidFill>
                  <a:schemeClr val="bg1"/>
                </a:solidFill>
              </a:rPr>
              <a:t>, </a:t>
            </a:r>
            <a:r>
              <a:rPr 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nivel=</a:t>
            </a:r>
            <a:r>
              <a:rPr lang="es-ES" sz="2000" dirty="0">
                <a:solidFill>
                  <a:srgbClr val="FF66FF"/>
                </a:solidFill>
              </a:rPr>
              <a:t>0</a:t>
            </a:r>
            <a:r>
              <a:rPr lang="es-ES" sz="2000" dirty="0">
                <a:solidFill>
                  <a:srgbClr val="FFFF00"/>
                </a:solidFill>
              </a:rPr>
              <a:t>)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Recorre todo el árbol de habilidades y muestra visualmente la evolución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Flexible para evolución de habilidades</a:t>
            </a:r>
          </a:p>
          <a:p>
            <a:pPr algn="ctr"/>
            <a:r>
              <a:rPr lang="es-ES" sz="2000" dirty="0">
                <a:solidFill>
                  <a:schemeClr val="bg1"/>
                </a:solidFill>
              </a:rPr>
              <a:t>No permite búsqueda eficiente por comparación directa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39E1766-49F0-4DB6-9D56-AD2F6BADD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601" y="1396482"/>
            <a:ext cx="5547812" cy="418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4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3" name="Google Shape;84;p5">
            <a:extLst>
              <a:ext uri="{FF2B5EF4-FFF2-40B4-BE49-F238E27FC236}">
                <a16:creationId xmlns:a16="http://schemas.microsoft.com/office/drawing/2014/main" id="{D4109594-00DE-488B-8CEE-D85C192A995D}"/>
              </a:ext>
            </a:extLst>
          </p:cNvPr>
          <p:cNvSpPr txBox="1">
            <a:spLocks/>
          </p:cNvSpPr>
          <p:nvPr/>
        </p:nvSpPr>
        <p:spPr>
          <a:xfrm>
            <a:off x="3734945" y="377624"/>
            <a:ext cx="4728354" cy="72177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Grafos y Misiones: Prioridades, Grafos y Algoritmos</a:t>
            </a:r>
          </a:p>
        </p:txBody>
      </p:sp>
      <p:sp>
        <p:nvSpPr>
          <p:cNvPr id="4" name="Google Shape;85;p5">
            <a:extLst>
              <a:ext uri="{FF2B5EF4-FFF2-40B4-BE49-F238E27FC236}">
                <a16:creationId xmlns:a16="http://schemas.microsoft.com/office/drawing/2014/main" id="{7AD25A1E-00D4-4BCE-9460-DCD7501CD59C}"/>
              </a:ext>
            </a:extLst>
          </p:cNvPr>
          <p:cNvSpPr txBox="1">
            <a:spLocks/>
          </p:cNvSpPr>
          <p:nvPr/>
        </p:nvSpPr>
        <p:spPr>
          <a:xfrm>
            <a:off x="857521" y="1452424"/>
            <a:ext cx="4268152" cy="3137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COLA DE PRIORIDADES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Estructura donde cada elemento tiene una prioridad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Al atender, siempre se retira el elemento con mayor prioridad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No se atiende necesariamente en orden de llegada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Permite organizar misiones por nivel de urgencia o importancia</a:t>
            </a:r>
          </a:p>
        </p:txBody>
      </p:sp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2AAA8F88-23FE-441B-85C7-701C8B1450DB}"/>
              </a:ext>
            </a:extLst>
          </p:cNvPr>
          <p:cNvSpPr txBox="1">
            <a:spLocks/>
          </p:cNvSpPr>
          <p:nvPr/>
        </p:nvSpPr>
        <p:spPr>
          <a:xfrm>
            <a:off x="6329223" y="1452425"/>
            <a:ext cx="4268152" cy="3137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Heap Binario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Estructura de árbol completo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Cumple la propiedad: cada padre tiene menor o igual prioridad que sus hijos (min-</a:t>
            </a:r>
            <a:r>
              <a:rPr lang="es-ES" dirty="0" err="1">
                <a:solidFill>
                  <a:schemeClr val="bg1"/>
                </a:solidFill>
              </a:rPr>
              <a:t>heap</a:t>
            </a:r>
            <a:r>
              <a:rPr lang="es-ES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Se implementa internamente con listas en Python usando</a:t>
            </a:r>
          </a:p>
        </p:txBody>
      </p:sp>
    </p:spTree>
    <p:extLst>
      <p:ext uri="{BB962C8B-B14F-4D97-AF65-F5344CB8AC3E}">
        <p14:creationId xmlns:p14="http://schemas.microsoft.com/office/powerpoint/2010/main" val="920349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8" name="Google Shape;84;p5">
            <a:extLst>
              <a:ext uri="{FF2B5EF4-FFF2-40B4-BE49-F238E27FC236}">
                <a16:creationId xmlns:a16="http://schemas.microsoft.com/office/drawing/2014/main" id="{8A0F0569-149D-4607-8BDB-8868E381A3F1}"/>
              </a:ext>
            </a:extLst>
          </p:cNvPr>
          <p:cNvSpPr txBox="1">
            <a:spLocks/>
          </p:cNvSpPr>
          <p:nvPr/>
        </p:nvSpPr>
        <p:spPr>
          <a:xfrm>
            <a:off x="3734945" y="377624"/>
            <a:ext cx="4728354" cy="72177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Grafos y Misiones: Prioridades, Grafos y Algoritmos</a:t>
            </a:r>
          </a:p>
        </p:txBody>
      </p:sp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763BE59C-59CB-4493-8BEA-82C619410F31}"/>
              </a:ext>
            </a:extLst>
          </p:cNvPr>
          <p:cNvSpPr txBox="1">
            <a:spLocks/>
          </p:cNvSpPr>
          <p:nvPr/>
        </p:nvSpPr>
        <p:spPr>
          <a:xfrm>
            <a:off x="5472025" y="1597018"/>
            <a:ext cx="5982543" cy="210615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Estructura de datos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rgbClr val="FF66FF"/>
                </a:solidFill>
              </a:rPr>
              <a:t>class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u="sng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Mision</a:t>
            </a:r>
            <a:r>
              <a:rPr lang="es-ES" dirty="0">
                <a:solidFill>
                  <a:schemeClr val="bg1"/>
                </a:solidFill>
              </a:rPr>
              <a:t>: Representa una misión con nombre y prioridad.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Define comparación </a:t>
            </a:r>
            <a:r>
              <a:rPr lang="es-ES" dirty="0">
                <a:solidFill>
                  <a:srgbClr val="FF66FF"/>
                </a:solidFill>
              </a:rPr>
              <a:t>__lt__ </a:t>
            </a:r>
            <a:r>
              <a:rPr lang="es-ES" dirty="0">
                <a:solidFill>
                  <a:schemeClr val="bg1"/>
                </a:solidFill>
              </a:rPr>
              <a:t>para ordenar por prioridad en un heap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endParaRPr lang="es-ES" dirty="0">
              <a:solidFill>
                <a:schemeClr val="bg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rgbClr val="FF66FF"/>
                </a:solidFill>
              </a:rPr>
              <a:t>class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ColaMisiones</a:t>
            </a:r>
            <a:r>
              <a:rPr lang="es-ES" dirty="0">
                <a:solidFill>
                  <a:schemeClr val="bg1"/>
                </a:solidFill>
              </a:rPr>
              <a:t>: Implementa la cola de prioridad usando heap (estructura tipo lista) 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Contiene la lista cola que mantiene el orden de atención</a:t>
            </a:r>
          </a:p>
        </p:txBody>
      </p:sp>
      <p:sp>
        <p:nvSpPr>
          <p:cNvPr id="10" name="Google Shape;87;p5">
            <a:extLst>
              <a:ext uri="{FF2B5EF4-FFF2-40B4-BE49-F238E27FC236}">
                <a16:creationId xmlns:a16="http://schemas.microsoft.com/office/drawing/2014/main" id="{ABD16C77-FD3B-4F67-89C6-3FAAB6D64991}"/>
              </a:ext>
            </a:extLst>
          </p:cNvPr>
          <p:cNvSpPr txBox="1"/>
          <p:nvPr/>
        </p:nvSpPr>
        <p:spPr>
          <a:xfrm>
            <a:off x="6021162" y="4034562"/>
            <a:ext cx="4884271" cy="210615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Funciones principales</a:t>
            </a:r>
          </a:p>
          <a:p>
            <a:pPr algn="ctr"/>
            <a:r>
              <a:rPr lang="es-E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agregar</a:t>
            </a:r>
            <a:r>
              <a:rPr lang="es-ES" sz="2400" dirty="0">
                <a:solidFill>
                  <a:srgbClr val="FFFF00"/>
                </a:solidFill>
              </a:rPr>
              <a:t>(</a:t>
            </a:r>
            <a:r>
              <a:rPr lang="es-ES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mision</a:t>
            </a:r>
            <a:r>
              <a:rPr lang="es-ES" sz="2400" dirty="0">
                <a:solidFill>
                  <a:srgbClr val="FFFF00"/>
                </a:solidFill>
              </a:rPr>
              <a:t>)</a:t>
            </a:r>
            <a:r>
              <a:rPr lang="es-ES" sz="2400" dirty="0">
                <a:solidFill>
                  <a:schemeClr val="bg1"/>
                </a:solidFill>
              </a:rPr>
              <a:t>: Inserta una misión en la cola respetando la prioridad</a:t>
            </a:r>
          </a:p>
          <a:p>
            <a:pPr algn="ctr"/>
            <a:r>
              <a:rPr lang="es-E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atender</a:t>
            </a:r>
            <a:r>
              <a:rPr lang="es-ES" sz="2400" dirty="0">
                <a:solidFill>
                  <a:srgbClr val="FFFF00"/>
                </a:solidFill>
              </a:rPr>
              <a:t>()</a:t>
            </a:r>
            <a:r>
              <a:rPr lang="es-ES" sz="2400" dirty="0">
                <a:solidFill>
                  <a:schemeClr val="bg1"/>
                </a:solidFill>
              </a:rPr>
              <a:t>: Retira la misión con mayor prioridad (valor mas bajo)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F535F5B-C26A-4FC0-9DB8-C89B447F7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3942"/>
            <a:ext cx="5106113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99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5" name="Google Shape;87;p5">
            <a:extLst>
              <a:ext uri="{FF2B5EF4-FFF2-40B4-BE49-F238E27FC236}">
                <a16:creationId xmlns:a16="http://schemas.microsoft.com/office/drawing/2014/main" id="{735BE012-4A77-47B9-826D-0B348C349262}"/>
              </a:ext>
            </a:extLst>
          </p:cNvPr>
          <p:cNvSpPr txBox="1"/>
          <p:nvPr/>
        </p:nvSpPr>
        <p:spPr>
          <a:xfrm>
            <a:off x="6096000" y="2454780"/>
            <a:ext cx="4920032" cy="363319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ES" sz="2400" dirty="0">
                <a:solidFill>
                  <a:srgbClr val="FF66FF"/>
                </a:solidFill>
              </a:rPr>
              <a:t>class</a:t>
            </a:r>
            <a:r>
              <a:rPr lang="es-ES" sz="2400" dirty="0">
                <a:solidFill>
                  <a:schemeClr val="bg1"/>
                </a:solidFill>
              </a:rPr>
              <a:t> </a:t>
            </a:r>
            <a:r>
              <a:rPr lang="es-E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Grafo</a:t>
            </a:r>
            <a:r>
              <a:rPr lang="es-ES" sz="2400" dirty="0">
                <a:solidFill>
                  <a:schemeClr val="bg1"/>
                </a:solidFill>
              </a:rPr>
              <a:t>: Se usa un diccionario de listas como estructura interna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 </a:t>
            </a:r>
            <a:r>
              <a:rPr lang="es-ES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agregar_nodo</a:t>
            </a:r>
            <a:r>
              <a:rPr lang="es-ES" sz="2400" dirty="0">
                <a:solidFill>
                  <a:srgbClr val="FFFF00"/>
                </a:solidFill>
              </a:rPr>
              <a:t>(</a:t>
            </a:r>
            <a:r>
              <a:rPr lang="es-E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nodo</a:t>
            </a:r>
            <a:r>
              <a:rPr lang="es-ES" sz="2400" dirty="0">
                <a:solidFill>
                  <a:srgbClr val="FFFF00"/>
                </a:solidFill>
              </a:rPr>
              <a:t>)</a:t>
            </a:r>
            <a:r>
              <a:rPr lang="es-ES" sz="2400" dirty="0">
                <a:solidFill>
                  <a:schemeClr val="bg1"/>
                </a:solidFill>
              </a:rPr>
              <a:t>: Cada nodo representa un planeta, base o personaje</a:t>
            </a:r>
          </a:p>
          <a:p>
            <a:pPr algn="ctr"/>
            <a:r>
              <a:rPr lang="es-ES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agregar_arista</a:t>
            </a:r>
            <a:r>
              <a:rPr lang="es-ES" sz="2400" dirty="0">
                <a:solidFill>
                  <a:srgbClr val="FFFF00"/>
                </a:solidFill>
              </a:rPr>
              <a:t>(</a:t>
            </a:r>
            <a:r>
              <a:rPr lang="es-E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origen</a:t>
            </a:r>
            <a:r>
              <a:rPr lang="es-ES" sz="2400" dirty="0">
                <a:solidFill>
                  <a:schemeClr val="bg1"/>
                </a:solidFill>
              </a:rPr>
              <a:t>, </a:t>
            </a:r>
            <a:r>
              <a:rPr lang="es-E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destino</a:t>
            </a:r>
            <a:r>
              <a:rPr lang="es-ES" sz="2400" dirty="0">
                <a:solidFill>
                  <a:srgbClr val="FFFF00"/>
                </a:solidFill>
              </a:rPr>
              <a:t>)</a:t>
            </a:r>
            <a:r>
              <a:rPr lang="es-ES" sz="2400" dirty="0">
                <a:solidFill>
                  <a:schemeClr val="bg1"/>
                </a:solidFill>
              </a:rPr>
              <a:t>: Representa rutas, alianzas o conflictos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Se agrega en la lista de adyacencia del nodo origen</a:t>
            </a:r>
          </a:p>
        </p:txBody>
      </p:sp>
      <p:sp>
        <p:nvSpPr>
          <p:cNvPr id="13" name="Google Shape;85;p5">
            <a:extLst>
              <a:ext uri="{FF2B5EF4-FFF2-40B4-BE49-F238E27FC236}">
                <a16:creationId xmlns:a16="http://schemas.microsoft.com/office/drawing/2014/main" id="{3AA153B2-C9FF-43A7-BCA3-A7B0024D017E}"/>
              </a:ext>
            </a:extLst>
          </p:cNvPr>
          <p:cNvSpPr txBox="1">
            <a:spLocks/>
          </p:cNvSpPr>
          <p:nvPr/>
        </p:nvSpPr>
        <p:spPr>
          <a:xfrm>
            <a:off x="3734945" y="1345621"/>
            <a:ext cx="4728354" cy="98632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REPRESENTACIÓN DE GRAFOS EN </a:t>
            </a:r>
            <a:r>
              <a:rPr lang="es-ES" dirty="0">
                <a:solidFill>
                  <a:schemeClr val="accent2"/>
                </a:solidFill>
              </a:rPr>
              <a:t>grafo.py</a:t>
            </a:r>
          </a:p>
        </p:txBody>
      </p:sp>
      <p:sp>
        <p:nvSpPr>
          <p:cNvPr id="14" name="Google Shape;84;p5">
            <a:extLst>
              <a:ext uri="{FF2B5EF4-FFF2-40B4-BE49-F238E27FC236}">
                <a16:creationId xmlns:a16="http://schemas.microsoft.com/office/drawing/2014/main" id="{C1B48AC8-B4A4-4F66-8057-078F43A7D84D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72177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Grafos y Misiones: Prioridades, Grafos y Algoritmos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13ED70B-E268-40E9-8AD8-1302BD6F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29" y="2454780"/>
            <a:ext cx="4991797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95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5" name="Google Shape;87;p5">
            <a:extLst>
              <a:ext uri="{FF2B5EF4-FFF2-40B4-BE49-F238E27FC236}">
                <a16:creationId xmlns:a16="http://schemas.microsoft.com/office/drawing/2014/main" id="{735BE012-4A77-47B9-826D-0B348C349262}"/>
              </a:ext>
            </a:extLst>
          </p:cNvPr>
          <p:cNvSpPr txBox="1"/>
          <p:nvPr/>
        </p:nvSpPr>
        <p:spPr>
          <a:xfrm>
            <a:off x="2220663" y="2275354"/>
            <a:ext cx="7611234" cy="427072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El grafo representa el universo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Planetas bases y naves son nodos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Rutas alianzas o conflictos son aristas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BFS se usa para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bg1"/>
                </a:solidFill>
              </a:rPr>
              <a:t>Explorar primero los nodos más cercanos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bg1"/>
                </a:solidFill>
              </a:rPr>
              <a:t>Encontrar relaciones por niveles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bg1"/>
                </a:solidFill>
              </a:rPr>
              <a:t>Mostrar expansión desde un nodo inicial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DFS se usa para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bg1"/>
                </a:solidFill>
              </a:rPr>
              <a:t>Explorar caminos completos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bg1"/>
                </a:solidFill>
              </a:rPr>
              <a:t>Encontrar rutas profundas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bg1"/>
                </a:solidFill>
              </a:rPr>
              <a:t>Detectar conexiones entre planetas</a:t>
            </a:r>
          </a:p>
        </p:txBody>
      </p:sp>
      <p:sp>
        <p:nvSpPr>
          <p:cNvPr id="14" name="Google Shape;84;p5">
            <a:extLst>
              <a:ext uri="{FF2B5EF4-FFF2-40B4-BE49-F238E27FC236}">
                <a16:creationId xmlns:a16="http://schemas.microsoft.com/office/drawing/2014/main" id="{C1B48AC8-B4A4-4F66-8057-078F43A7D84D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72177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Grafos y Misiones: Prioridades, Grafos y Algoritmos</a:t>
            </a:r>
          </a:p>
        </p:txBody>
      </p:sp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988DF8B5-EE90-4DFA-BFEB-D96BC60F5C47}"/>
              </a:ext>
            </a:extLst>
          </p:cNvPr>
          <p:cNvSpPr txBox="1">
            <a:spLocks/>
          </p:cNvSpPr>
          <p:nvPr/>
        </p:nvSpPr>
        <p:spPr>
          <a:xfrm>
            <a:off x="3731823" y="1251076"/>
            <a:ext cx="4728354" cy="98632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BFS (Búsqueda en Amplitud) y DFS (Búsqueda en Profundidad)</a:t>
            </a:r>
          </a:p>
        </p:txBody>
      </p:sp>
    </p:spTree>
    <p:extLst>
      <p:ext uri="{BB962C8B-B14F-4D97-AF65-F5344CB8AC3E}">
        <p14:creationId xmlns:p14="http://schemas.microsoft.com/office/powerpoint/2010/main" val="4282236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14" name="Google Shape;84;p5">
            <a:extLst>
              <a:ext uri="{FF2B5EF4-FFF2-40B4-BE49-F238E27FC236}">
                <a16:creationId xmlns:a16="http://schemas.microsoft.com/office/drawing/2014/main" id="{C1B48AC8-B4A4-4F66-8057-078F43A7D84D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72177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Grafos y Misiones: Prioridades, Grafos y Algoritmos</a:t>
            </a:r>
          </a:p>
        </p:txBody>
      </p:sp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988DF8B5-EE90-4DFA-BFEB-D96BC60F5C47}"/>
              </a:ext>
            </a:extLst>
          </p:cNvPr>
          <p:cNvSpPr txBox="1">
            <a:spLocks/>
          </p:cNvSpPr>
          <p:nvPr/>
        </p:nvSpPr>
        <p:spPr>
          <a:xfrm>
            <a:off x="6223353" y="2286723"/>
            <a:ext cx="4728354" cy="334179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bfs</a:t>
            </a:r>
            <a:r>
              <a:rPr lang="es-ES" dirty="0">
                <a:solidFill>
                  <a:srgbClr val="FFFF00"/>
                </a:solidFill>
              </a:rPr>
              <a:t>(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inicio</a:t>
            </a:r>
            <a:r>
              <a:rPr lang="es-ES" dirty="0">
                <a:solidFill>
                  <a:srgbClr val="FFFF00"/>
                </a:solidFill>
              </a:rPr>
              <a:t>)</a:t>
            </a:r>
            <a:r>
              <a:rPr lang="es-ES" dirty="0">
                <a:solidFill>
                  <a:schemeClr val="bg1"/>
                </a:solidFill>
              </a:rPr>
              <a:t>: 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Arranca desde un nodo inicial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Recorre primero todos los vecinos directos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Luego los vecinos de esos vecinos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Usa una cola para controlar el orden  </a:t>
            </a:r>
            <a:endParaRPr lang="es-ES" dirty="0">
              <a:solidFill>
                <a:srgbClr val="FFFF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21689E-239F-4C07-857D-78AFA348A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20" y="2386867"/>
            <a:ext cx="4601217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63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14" name="Google Shape;84;p5">
            <a:extLst>
              <a:ext uri="{FF2B5EF4-FFF2-40B4-BE49-F238E27FC236}">
                <a16:creationId xmlns:a16="http://schemas.microsoft.com/office/drawing/2014/main" id="{C1B48AC8-B4A4-4F66-8057-078F43A7D84D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72177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Grafos y Misiones: Prioridades, Grafos y Algoritmos</a:t>
            </a:r>
          </a:p>
        </p:txBody>
      </p:sp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988DF8B5-EE90-4DFA-BFEB-D96BC60F5C47}"/>
              </a:ext>
            </a:extLst>
          </p:cNvPr>
          <p:cNvSpPr txBox="1">
            <a:spLocks/>
          </p:cNvSpPr>
          <p:nvPr/>
        </p:nvSpPr>
        <p:spPr>
          <a:xfrm>
            <a:off x="6223353" y="2286723"/>
            <a:ext cx="4728354" cy="334179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pt-BR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dfs</a:t>
            </a:r>
            <a:r>
              <a:rPr lang="pt-BR" dirty="0">
                <a:solidFill>
                  <a:srgbClr val="FFFF00"/>
                </a:solidFill>
              </a:rPr>
              <a:t>(</a:t>
            </a:r>
            <a:r>
              <a:rPr lang="pt-B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inicio</a:t>
            </a:r>
            <a:r>
              <a:rPr lang="pt-BR" dirty="0">
                <a:solidFill>
                  <a:schemeClr val="bg1"/>
                </a:solidFill>
              </a:rPr>
              <a:t>, </a:t>
            </a:r>
            <a:r>
              <a:rPr lang="pt-B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visitados</a:t>
            </a:r>
            <a:r>
              <a:rPr lang="pt-BR" dirty="0">
                <a:solidFill>
                  <a:schemeClr val="bg1"/>
                </a:solidFill>
              </a:rPr>
              <a:t>=</a:t>
            </a:r>
            <a:r>
              <a:rPr lang="pt-BR" dirty="0" err="1">
                <a:solidFill>
                  <a:srgbClr val="FF66FF"/>
                </a:solidFill>
              </a:rPr>
              <a:t>None</a:t>
            </a:r>
            <a:r>
              <a:rPr lang="pt-BR" dirty="0">
                <a:solidFill>
                  <a:srgbClr val="FFFF00"/>
                </a:solidFill>
              </a:rPr>
              <a:t>)</a:t>
            </a:r>
            <a:r>
              <a:rPr lang="pt-BR" dirty="0">
                <a:solidFill>
                  <a:schemeClr val="bg1"/>
                </a:solidFill>
              </a:rPr>
              <a:t>: 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Va lo más profundo posible en un camino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Cuando no puede avanzar retrocede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Continúa por otra rama</a:t>
            </a: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Usa recursión como estructura natural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21689E-239F-4C07-857D-78AFA348A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20" y="2386867"/>
            <a:ext cx="4601217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2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14" name="Google Shape;84;p5">
            <a:extLst>
              <a:ext uri="{FF2B5EF4-FFF2-40B4-BE49-F238E27FC236}">
                <a16:creationId xmlns:a16="http://schemas.microsoft.com/office/drawing/2014/main" id="{C1B48AC8-B4A4-4F66-8057-078F43A7D84D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68636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Topológico y Dijkstra: Ordenamiento</a:t>
            </a:r>
          </a:p>
        </p:txBody>
      </p:sp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988DF8B5-EE90-4DFA-BFEB-D96BC60F5C47}"/>
              </a:ext>
            </a:extLst>
          </p:cNvPr>
          <p:cNvSpPr txBox="1">
            <a:spLocks/>
          </p:cNvSpPr>
          <p:nvPr/>
        </p:nvSpPr>
        <p:spPr>
          <a:xfrm>
            <a:off x="560784" y="1758102"/>
            <a:ext cx="4728354" cy="334179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¿Qué es el ordenamiento topológico?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Es un algoritmo que ordena nodos de un grafo dirigido respetando relaciones de dependencia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Si A debe ocurrir antes que 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entonces A aparece antes que B en el orden resultante</a:t>
            </a:r>
          </a:p>
        </p:txBody>
      </p:sp>
      <p:sp>
        <p:nvSpPr>
          <p:cNvPr id="6" name="Google Shape;85;p5">
            <a:extLst>
              <a:ext uri="{FF2B5EF4-FFF2-40B4-BE49-F238E27FC236}">
                <a16:creationId xmlns:a16="http://schemas.microsoft.com/office/drawing/2014/main" id="{F8AA31C4-174E-485A-9408-0482190FF69A}"/>
              </a:ext>
            </a:extLst>
          </p:cNvPr>
          <p:cNvSpPr txBox="1">
            <a:spLocks/>
          </p:cNvSpPr>
          <p:nvPr/>
        </p:nvSpPr>
        <p:spPr>
          <a:xfrm>
            <a:off x="6472227" y="1758102"/>
            <a:ext cx="4728354" cy="334179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Uso dentro del proyecto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Se usa para planificar el entrenamiento o evolución de habilidades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Ejemplo: si primero debe aprender una habilidad base antes de una transformación, el orden topológico garantiza ese orden correcto</a:t>
            </a:r>
          </a:p>
        </p:txBody>
      </p:sp>
    </p:spTree>
    <p:extLst>
      <p:ext uri="{BB962C8B-B14F-4D97-AF65-F5344CB8AC3E}">
        <p14:creationId xmlns:p14="http://schemas.microsoft.com/office/powerpoint/2010/main" val="369738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988DF8B5-EE90-4DFA-BFEB-D96BC60F5C47}"/>
              </a:ext>
            </a:extLst>
          </p:cNvPr>
          <p:cNvSpPr txBox="1">
            <a:spLocks/>
          </p:cNvSpPr>
          <p:nvPr/>
        </p:nvSpPr>
        <p:spPr>
          <a:xfrm>
            <a:off x="6096000" y="1346795"/>
            <a:ext cx="5479289" cy="483589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Se crea un diccionario. cada habilidad comienza con cero dependencias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Si una habilidad depende de </a:t>
            </a:r>
            <a:r>
              <a:rPr lang="es-ES" dirty="0" err="1">
                <a:solidFill>
                  <a:schemeClr val="bg1"/>
                </a:solidFill>
              </a:rPr>
              <a:t>otra,su</a:t>
            </a:r>
            <a:r>
              <a:rPr lang="es-ES" dirty="0">
                <a:solidFill>
                  <a:schemeClr val="bg1"/>
                </a:solidFill>
              </a:rPr>
              <a:t> grado de entrada aumenta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Se guardan las habilidades que no dependen de ninguna otra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Se toma una habilidad sin dependencias y se agrega al orden final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Cada habilidad desbloqueada reduce dependencias de las siguientes cuando una queda en cero entra a la cola</a:t>
            </a:r>
          </a:p>
        </p:txBody>
      </p:sp>
      <p:sp>
        <p:nvSpPr>
          <p:cNvPr id="10" name="Google Shape;84;p5">
            <a:extLst>
              <a:ext uri="{FF2B5EF4-FFF2-40B4-BE49-F238E27FC236}">
                <a16:creationId xmlns:a16="http://schemas.microsoft.com/office/drawing/2014/main" id="{9A7767CF-C184-4B83-BB87-91C5B79FEA8E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68636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Topológico y Dijkstra: Ordenamiento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0103D6-16E1-4661-8440-019C33FD4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4125"/>
            <a:ext cx="5649113" cy="5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73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988DF8B5-EE90-4DFA-BFEB-D96BC60F5C47}"/>
              </a:ext>
            </a:extLst>
          </p:cNvPr>
          <p:cNvSpPr txBox="1">
            <a:spLocks/>
          </p:cNvSpPr>
          <p:nvPr/>
        </p:nvSpPr>
        <p:spPr>
          <a:xfrm>
            <a:off x="202095" y="1420518"/>
            <a:ext cx="5479289" cy="492557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Algoritmo </a:t>
            </a:r>
            <a:r>
              <a:rPr lang="es-MX" b="1" dirty="0">
                <a:solidFill>
                  <a:schemeClr val="bg1"/>
                </a:solidFill>
              </a:rPr>
              <a:t>Dijkstra</a:t>
            </a:r>
            <a:r>
              <a:rPr lang="es-MX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creado por Edsger W. Dijkstra en 1956 y publicado en 1959. Su objetivo inicial era encontrar caminos más cortos en grafos de forma eficiente.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endParaRPr lang="es-ES" dirty="0">
              <a:solidFill>
                <a:schemeClr val="bg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El algoritmo calcula las distancias mínimas desde un nodo origen a todos los demás nodos en un grafo con aristas de peso no negativo. Entrega un árbol de caminos más cortos implícito y las distancias mínimas hacia cada vértice.</a:t>
            </a:r>
          </a:p>
        </p:txBody>
      </p:sp>
      <p:sp>
        <p:nvSpPr>
          <p:cNvPr id="10" name="Google Shape;84;p5">
            <a:extLst>
              <a:ext uri="{FF2B5EF4-FFF2-40B4-BE49-F238E27FC236}">
                <a16:creationId xmlns:a16="http://schemas.microsoft.com/office/drawing/2014/main" id="{9A7767CF-C184-4B83-BB87-91C5B79FEA8E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68636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Topológico y Dijkstra: Ordenamiento</a:t>
            </a:r>
          </a:p>
        </p:txBody>
      </p:sp>
      <p:sp>
        <p:nvSpPr>
          <p:cNvPr id="13" name="Google Shape;85;p5">
            <a:extLst>
              <a:ext uri="{FF2B5EF4-FFF2-40B4-BE49-F238E27FC236}">
                <a16:creationId xmlns:a16="http://schemas.microsoft.com/office/drawing/2014/main" id="{A709C74E-2F59-4ADA-AAA6-E1BBAC1EF1C7}"/>
              </a:ext>
            </a:extLst>
          </p:cNvPr>
          <p:cNvSpPr txBox="1">
            <a:spLocks/>
          </p:cNvSpPr>
          <p:nvPr/>
        </p:nvSpPr>
        <p:spPr>
          <a:xfrm>
            <a:off x="7709483" y="1420518"/>
            <a:ext cx="3372374" cy="501383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800"/>
            </a:pPr>
            <a:r>
              <a:rPr lang="es-ES" dirty="0">
                <a:solidFill>
                  <a:schemeClr val="bg1"/>
                </a:solidFill>
              </a:rPr>
              <a:t>Edsger W. Dijkstra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sz="1000" dirty="0">
                <a:solidFill>
                  <a:schemeClr val="accent1">
                    <a:lumMod val="75000"/>
                  </a:schemeClr>
                </a:solidFill>
              </a:rPr>
              <a:t>(duh)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3CAA88A-5B2E-41EE-8F99-1FAAE703F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762" y="2116991"/>
            <a:ext cx="317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20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988DF8B5-EE90-4DFA-BFEB-D96BC60F5C47}"/>
              </a:ext>
            </a:extLst>
          </p:cNvPr>
          <p:cNvSpPr txBox="1">
            <a:spLocks/>
          </p:cNvSpPr>
          <p:nvPr/>
        </p:nvSpPr>
        <p:spPr>
          <a:xfrm>
            <a:off x="5277587" y="1240237"/>
            <a:ext cx="6559432" cy="537581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 err="1">
                <a:solidFill>
                  <a:schemeClr val="bg1"/>
                </a:solidFill>
              </a:rPr>
              <a:t>import</a:t>
            </a:r>
            <a:r>
              <a:rPr lang="es-ES" dirty="0">
                <a:solidFill>
                  <a:schemeClr val="bg1"/>
                </a:solidFill>
              </a:rPr>
              <a:t> heap: usamos la librería estándar para manejar una cola de prioridad implementada como min heap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dijkstra</a:t>
            </a:r>
            <a:r>
              <a:rPr lang="es-ES" dirty="0">
                <a:solidFill>
                  <a:srgbClr val="FFFF00"/>
                </a:solidFill>
              </a:rPr>
              <a:t>(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grafo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inicio</a:t>
            </a:r>
            <a:r>
              <a:rPr lang="es-ES" dirty="0">
                <a:solidFill>
                  <a:srgbClr val="FFFF00"/>
                </a:solidFill>
              </a:rPr>
              <a:t>)</a:t>
            </a:r>
            <a:r>
              <a:rPr lang="es-ES" dirty="0">
                <a:solidFill>
                  <a:schemeClr val="bg1"/>
                </a:solidFill>
              </a:rPr>
              <a:t>: Función que recibe un grafo representado como diccionario. Cada clave es un nodo y su valor es una lista de pares (vecino, costo)inicio es el nodo fuente desde donde partimos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distancias</a:t>
            </a:r>
            <a:r>
              <a:rPr lang="es-ES" dirty="0">
                <a:solidFill>
                  <a:schemeClr val="bg1"/>
                </a:solidFill>
              </a:rPr>
              <a:t> = </a:t>
            </a:r>
            <a:r>
              <a:rPr lang="es-ES" dirty="0">
                <a:solidFill>
                  <a:srgbClr val="FFFF00"/>
                </a:solidFill>
              </a:rPr>
              <a:t>{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</a:t>
            </a:r>
            <a:r>
              <a:rPr lang="es-ES" dirty="0">
                <a:solidFill>
                  <a:schemeClr val="bg1"/>
                </a:solidFill>
              </a:rPr>
              <a:t>: </a:t>
            </a:r>
            <a:r>
              <a:rPr lang="es-ES" u="sng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float</a:t>
            </a:r>
            <a:r>
              <a:rPr lang="es-ES" dirty="0">
                <a:solidFill>
                  <a:srgbClr val="FF66FF"/>
                </a:solidFill>
              </a:rPr>
              <a:t>(</a:t>
            </a:r>
            <a:r>
              <a:rPr lang="es-ES" dirty="0">
                <a:solidFill>
                  <a:srgbClr val="00B050"/>
                </a:solidFill>
              </a:rPr>
              <a:t>"</a:t>
            </a:r>
            <a:r>
              <a:rPr lang="es-ES" dirty="0" err="1">
                <a:solidFill>
                  <a:srgbClr val="00B050"/>
                </a:solidFill>
              </a:rPr>
              <a:t>inf</a:t>
            </a:r>
            <a:r>
              <a:rPr lang="es-ES" dirty="0">
                <a:solidFill>
                  <a:srgbClr val="00B050"/>
                </a:solidFill>
              </a:rPr>
              <a:t>”</a:t>
            </a:r>
            <a:r>
              <a:rPr lang="es-ES" dirty="0">
                <a:solidFill>
                  <a:srgbClr val="FF66FF"/>
                </a:solidFill>
              </a:rPr>
              <a:t>)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for</a:t>
            </a:r>
            <a:r>
              <a:rPr lang="es-ES" dirty="0">
                <a:solidFill>
                  <a:schemeClr val="bg1"/>
                </a:solidFill>
              </a:rPr>
              <a:t> n </a:t>
            </a: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grafo</a:t>
            </a:r>
            <a:r>
              <a:rPr lang="es-ES" dirty="0">
                <a:solidFill>
                  <a:srgbClr val="FFFF00"/>
                </a:solidFill>
              </a:rPr>
              <a:t>}</a:t>
            </a:r>
            <a:r>
              <a:rPr lang="es-ES" dirty="0">
                <a:solidFill>
                  <a:schemeClr val="bg1"/>
                </a:solidFill>
              </a:rPr>
              <a:t>:</a:t>
            </a:r>
            <a:r>
              <a:rPr lang="es-ES" dirty="0">
                <a:solidFill>
                  <a:srgbClr val="FFFF00"/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Inicializamos todas las distancias a infinito para indicar que aún no las conocemos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distancias</a:t>
            </a:r>
            <a:r>
              <a:rPr lang="es-ES" dirty="0">
                <a:solidFill>
                  <a:srgbClr val="FFFF00"/>
                </a:solidFill>
              </a:rPr>
              <a:t>[</a:t>
            </a: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inicio</a:t>
            </a:r>
            <a:r>
              <a:rPr lang="es-ES" dirty="0">
                <a:solidFill>
                  <a:srgbClr val="FFFF00"/>
                </a:solidFill>
              </a:rPr>
              <a:t>]</a:t>
            </a:r>
            <a:r>
              <a:rPr lang="es-ES" dirty="0">
                <a:solidFill>
                  <a:schemeClr val="bg1"/>
                </a:solidFill>
              </a:rPr>
              <a:t> = </a:t>
            </a:r>
            <a:r>
              <a:rPr lang="es-ES" dirty="0">
                <a:solidFill>
                  <a:srgbClr val="FF66FF"/>
                </a:solidFill>
              </a:rPr>
              <a:t>0</a:t>
            </a:r>
            <a:r>
              <a:rPr lang="es-ES" dirty="0">
                <a:solidFill>
                  <a:schemeClr val="bg1"/>
                </a:solidFill>
              </a:rPr>
              <a:t>: La distancia al nodo origen es cero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cola</a:t>
            </a:r>
            <a:r>
              <a:rPr lang="es-ES" dirty="0">
                <a:solidFill>
                  <a:schemeClr val="bg1"/>
                </a:solidFill>
              </a:rPr>
              <a:t> = </a:t>
            </a:r>
            <a:r>
              <a:rPr lang="es-ES" dirty="0">
                <a:solidFill>
                  <a:srgbClr val="FFFF00"/>
                </a:solidFill>
              </a:rPr>
              <a:t>[</a:t>
            </a:r>
            <a:r>
              <a:rPr lang="es-ES" dirty="0">
                <a:solidFill>
                  <a:srgbClr val="FF66FF"/>
                </a:solidFill>
              </a:rPr>
              <a:t>(0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inicio</a:t>
            </a:r>
            <a:r>
              <a:rPr lang="es-ES" dirty="0">
                <a:solidFill>
                  <a:srgbClr val="FF66FF"/>
                </a:solidFill>
              </a:rPr>
              <a:t>)</a:t>
            </a:r>
            <a:r>
              <a:rPr lang="es-ES" dirty="0">
                <a:solidFill>
                  <a:srgbClr val="FFFF00"/>
                </a:solidFill>
              </a:rPr>
              <a:t>]</a:t>
            </a:r>
            <a:r>
              <a:rPr lang="es-ES" dirty="0">
                <a:solidFill>
                  <a:schemeClr val="bg1"/>
                </a:solidFill>
              </a:rPr>
              <a:t>: Inicializamos la cola de prioridad con el par (distancia, nodo) del origen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buSzPts val="1800"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0" name="Google Shape;84;p5">
            <a:extLst>
              <a:ext uri="{FF2B5EF4-FFF2-40B4-BE49-F238E27FC236}">
                <a16:creationId xmlns:a16="http://schemas.microsoft.com/office/drawing/2014/main" id="{9A7767CF-C184-4B83-BB87-91C5B79FEA8E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68636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Topológico y Dijkstra: Ordenamiento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99C0974-2B99-403E-8408-065687415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4998"/>
            <a:ext cx="5277587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33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E7871A-E70A-4B78-A012-91F37A03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  <p:sp>
        <p:nvSpPr>
          <p:cNvPr id="9" name="Google Shape;85;p5">
            <a:extLst>
              <a:ext uri="{FF2B5EF4-FFF2-40B4-BE49-F238E27FC236}">
                <a16:creationId xmlns:a16="http://schemas.microsoft.com/office/drawing/2014/main" id="{988DF8B5-EE90-4DFA-BFEB-D96BC60F5C47}"/>
              </a:ext>
            </a:extLst>
          </p:cNvPr>
          <p:cNvSpPr txBox="1">
            <a:spLocks/>
          </p:cNvSpPr>
          <p:nvPr/>
        </p:nvSpPr>
        <p:spPr>
          <a:xfrm>
            <a:off x="5620534" y="1310210"/>
            <a:ext cx="6317000" cy="537581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 err="1">
                <a:solidFill>
                  <a:schemeClr val="bg1"/>
                </a:solidFill>
              </a:rPr>
              <a:t>while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cola</a:t>
            </a:r>
            <a:r>
              <a:rPr lang="es-ES" dirty="0">
                <a:solidFill>
                  <a:schemeClr val="bg1"/>
                </a:solidFill>
              </a:rPr>
              <a:t>: Bucle principal que procesa nodos en orden de menor distancia conocida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distancia_actual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nodo </a:t>
            </a:r>
            <a:r>
              <a:rPr lang="es-ES" dirty="0">
                <a:solidFill>
                  <a:schemeClr val="bg1"/>
                </a:solidFill>
              </a:rPr>
              <a:t>= </a:t>
            </a:r>
            <a:r>
              <a:rPr lang="es-ES" u="sng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heapq</a:t>
            </a:r>
            <a:r>
              <a:rPr lang="es-ES" dirty="0" err="1">
                <a:solidFill>
                  <a:schemeClr val="bg1"/>
                </a:solidFill>
              </a:rPr>
              <a:t>.</a:t>
            </a:r>
            <a:r>
              <a:rPr lang="es-E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heappop</a:t>
            </a:r>
            <a:r>
              <a:rPr lang="es-ES" dirty="0">
                <a:solidFill>
                  <a:srgbClr val="FFFF00"/>
                </a:solidFill>
              </a:rPr>
              <a:t>(</a:t>
            </a:r>
            <a:r>
              <a:rPr lang="es-ES" dirty="0">
                <a:solidFill>
                  <a:schemeClr val="bg1"/>
                </a:solidFill>
              </a:rPr>
              <a:t>cola</a:t>
            </a:r>
            <a:r>
              <a:rPr lang="es-ES" dirty="0">
                <a:solidFill>
                  <a:srgbClr val="FFFF00"/>
                </a:solidFill>
              </a:rPr>
              <a:t>)</a:t>
            </a:r>
            <a:r>
              <a:rPr lang="es-ES" dirty="0">
                <a:solidFill>
                  <a:schemeClr val="bg1"/>
                </a:solidFill>
              </a:rPr>
              <a:t>: Extraemos el par con la menor distancia acumulada actualmente. Esto es clave para la corrección y eficiencia del algoritmo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 err="1">
                <a:solidFill>
                  <a:schemeClr val="bg1"/>
                </a:solidFill>
              </a:rPr>
              <a:t>if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distancia_actual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&gt; d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istancias</a:t>
            </a:r>
            <a:r>
              <a:rPr lang="es-ES" dirty="0">
                <a:solidFill>
                  <a:srgbClr val="FFFF00"/>
                </a:solidFill>
              </a:rPr>
              <a:t>[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nodo</a:t>
            </a:r>
            <a:r>
              <a:rPr lang="es-ES" dirty="0">
                <a:solidFill>
                  <a:srgbClr val="FFFF00"/>
                </a:solidFill>
              </a:rPr>
              <a:t>]</a:t>
            </a:r>
            <a:r>
              <a:rPr lang="es-ES" dirty="0">
                <a:solidFill>
                  <a:schemeClr val="bg1"/>
                </a:solidFill>
              </a:rPr>
              <a:t>: continue : Si la entrada extraída está obsoleta porque ya encontramos una mejor ruta anteriormente se salta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 err="1">
                <a:solidFill>
                  <a:schemeClr val="bg1"/>
                </a:solidFill>
              </a:rPr>
              <a:t>for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vecino, costo </a:t>
            </a:r>
            <a:r>
              <a:rPr lang="es-ES" dirty="0">
                <a:solidFill>
                  <a:schemeClr val="bg1"/>
                </a:solidFill>
              </a:rPr>
              <a:t>in </a:t>
            </a:r>
            <a:r>
              <a:rPr lang="es-ES" dirty="0">
                <a:solidFill>
                  <a:srgbClr val="00B0F0"/>
                </a:solidFill>
              </a:rPr>
              <a:t>grafo</a:t>
            </a:r>
            <a:r>
              <a:rPr lang="es-ES" dirty="0">
                <a:solidFill>
                  <a:srgbClr val="FFFF00"/>
                </a:solidFill>
              </a:rPr>
              <a:t>[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nodo</a:t>
            </a:r>
            <a:r>
              <a:rPr lang="es-ES" dirty="0">
                <a:solidFill>
                  <a:srgbClr val="FFFF00"/>
                </a:solidFill>
              </a:rPr>
              <a:t>]</a:t>
            </a:r>
            <a:r>
              <a:rPr lang="es-ES" dirty="0">
                <a:solidFill>
                  <a:schemeClr val="bg1"/>
                </a:solidFill>
              </a:rPr>
              <a:t>: Recorremos cada arista saliente del nodo actual. Vecino es el nodo destino y costo es el peso de la arista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nueva</a:t>
            </a:r>
            <a:r>
              <a:rPr lang="es-ES" dirty="0">
                <a:solidFill>
                  <a:schemeClr val="bg1"/>
                </a:solidFill>
              </a:rPr>
              <a:t> = </a:t>
            </a:r>
            <a:r>
              <a:rPr lang="es-E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distancia_actual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+ 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costo</a:t>
            </a:r>
            <a:r>
              <a:rPr lang="es-ES" dirty="0">
                <a:solidFill>
                  <a:schemeClr val="bg1"/>
                </a:solidFill>
              </a:rPr>
              <a:t> : Calculamos la distancia alternativa pasando por el nodo actual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 err="1">
                <a:solidFill>
                  <a:schemeClr val="bg1"/>
                </a:solidFill>
              </a:rPr>
              <a:t>if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nueva</a:t>
            </a:r>
            <a:r>
              <a:rPr lang="es-ES" dirty="0">
                <a:solidFill>
                  <a:schemeClr val="bg1"/>
                </a:solidFill>
              </a:rPr>
              <a:t> &lt; 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distancias</a:t>
            </a:r>
            <a:r>
              <a:rPr lang="es-ES" dirty="0">
                <a:solidFill>
                  <a:srgbClr val="FFFF00"/>
                </a:solidFill>
              </a:rPr>
              <a:t>[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vecino</a:t>
            </a:r>
            <a:r>
              <a:rPr lang="es-ES" dirty="0">
                <a:solidFill>
                  <a:srgbClr val="FFFF00"/>
                </a:solidFill>
              </a:rPr>
              <a:t>]</a:t>
            </a:r>
            <a:r>
              <a:rPr lang="es-ES" dirty="0">
                <a:solidFill>
                  <a:schemeClr val="bg1"/>
                </a:solidFill>
              </a:rPr>
              <a:t>: Si la ruta nueva es mejor que la conocida se actualiza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distancias</a:t>
            </a:r>
            <a:r>
              <a:rPr lang="es-ES" dirty="0">
                <a:solidFill>
                  <a:srgbClr val="FFFF00"/>
                </a:solidFill>
              </a:rPr>
              <a:t>[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vecino</a:t>
            </a:r>
            <a:r>
              <a:rPr lang="es-ES" dirty="0">
                <a:solidFill>
                  <a:srgbClr val="FFFF00"/>
                </a:solidFill>
              </a:rPr>
              <a:t>]</a:t>
            </a:r>
            <a:r>
              <a:rPr lang="es-ES" dirty="0">
                <a:solidFill>
                  <a:schemeClr val="bg1"/>
                </a:solidFill>
              </a:rPr>
              <a:t> = 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nueva</a:t>
            </a:r>
            <a:r>
              <a:rPr lang="es-ES" dirty="0">
                <a:solidFill>
                  <a:schemeClr val="bg1"/>
                </a:solidFill>
              </a:rPr>
              <a:t>: Actualizamos la mejor distancia conocida al vecino</a:t>
            </a: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buSzPts val="1800"/>
              <a:buFont typeface="+mj-lt"/>
              <a:buAutoNum type="arabicPeriod"/>
            </a:pPr>
            <a:r>
              <a:rPr lang="es-ES" u="sng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heapq</a:t>
            </a:r>
            <a:r>
              <a:rPr lang="es-ES" dirty="0" err="1">
                <a:solidFill>
                  <a:schemeClr val="bg1"/>
                </a:solidFill>
              </a:rPr>
              <a:t>.</a:t>
            </a:r>
            <a:r>
              <a:rPr lang="es-E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heappush</a:t>
            </a:r>
            <a:r>
              <a:rPr lang="es-ES" dirty="0">
                <a:solidFill>
                  <a:srgbClr val="FFFF00"/>
                </a:solidFill>
              </a:rPr>
              <a:t>(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cola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>
                <a:solidFill>
                  <a:srgbClr val="FF66FF"/>
                </a:solidFill>
              </a:rPr>
              <a:t>(</a:t>
            </a:r>
            <a:r>
              <a:rPr lang="es-E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nueva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>
                <a:solidFill>
                  <a:schemeClr val="accent1">
                    <a:lumMod val="40000"/>
                    <a:lumOff val="60000"/>
                  </a:schemeClr>
                </a:solidFill>
              </a:rPr>
              <a:t>vecino</a:t>
            </a:r>
            <a:r>
              <a:rPr lang="es-ES">
                <a:solidFill>
                  <a:srgbClr val="FF66FF"/>
                </a:solidFill>
              </a:rPr>
              <a:t>)</a:t>
            </a:r>
            <a:r>
              <a:rPr lang="es-ES">
                <a:solidFill>
                  <a:srgbClr val="FFFF00"/>
                </a:solidFill>
              </a:rPr>
              <a:t>)</a:t>
            </a:r>
            <a:r>
              <a:rPr lang="es-ES">
                <a:solidFill>
                  <a:schemeClr val="bg1"/>
                </a:solidFill>
              </a:rPr>
              <a:t>: </a:t>
            </a:r>
            <a:r>
              <a:rPr lang="es-ES" dirty="0">
                <a:solidFill>
                  <a:schemeClr val="bg1"/>
                </a:solidFill>
              </a:rPr>
              <a:t>Insertamos la nueva entrada en la cola de prioridad</a:t>
            </a:r>
          </a:p>
        </p:txBody>
      </p:sp>
      <p:sp>
        <p:nvSpPr>
          <p:cNvPr id="10" name="Google Shape;84;p5">
            <a:extLst>
              <a:ext uri="{FF2B5EF4-FFF2-40B4-BE49-F238E27FC236}">
                <a16:creationId xmlns:a16="http://schemas.microsoft.com/office/drawing/2014/main" id="{9A7767CF-C184-4B83-BB87-91C5B79FEA8E}"/>
              </a:ext>
            </a:extLst>
          </p:cNvPr>
          <p:cNvSpPr txBox="1">
            <a:spLocks/>
          </p:cNvSpPr>
          <p:nvPr/>
        </p:nvSpPr>
        <p:spPr>
          <a:xfrm>
            <a:off x="3731823" y="311921"/>
            <a:ext cx="4728354" cy="68636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s-MX" b="1" dirty="0">
                <a:solidFill>
                  <a:schemeClr val="bg1"/>
                </a:solidFill>
              </a:rPr>
              <a:t>Topológico y Dijkstra: Ordenamiento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FABB8F-7A65-4FA9-AA58-EBA79A8A3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5112"/>
            <a:ext cx="5620534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80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1485</Words>
  <Application>Microsoft Office PowerPoint</Application>
  <PresentationFormat>Panorámica</PresentationFormat>
  <Paragraphs>165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Bahnschrift SemiBold SemiConden</vt:lpstr>
      <vt:lpstr>Calibri</vt:lpstr>
      <vt:lpstr>Calibri Light</vt:lpstr>
      <vt:lpstr>Consolas</vt:lpstr>
      <vt:lpstr>Wingdings</vt:lpstr>
      <vt:lpstr>Tema de Office</vt:lpstr>
      <vt:lpstr>Trabajo Práctico Integrador  Personajes de Ciencia Ficción y Estructuras de Datos en Python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3L DINO</dc:creator>
  <cp:lastModifiedBy>3L DINO</cp:lastModifiedBy>
  <cp:revision>37</cp:revision>
  <dcterms:created xsi:type="dcterms:W3CDTF">2025-11-30T06:33:30Z</dcterms:created>
  <dcterms:modified xsi:type="dcterms:W3CDTF">2025-12-01T07:56:27Z</dcterms:modified>
</cp:coreProperties>
</file>